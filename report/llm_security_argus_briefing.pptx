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1c7721fb7d04895" Type="http://schemas.openxmlformats.org/officeDocument/2006/relationships/officeDocument" Target="ppt/presentation.xml"/><Relationship Id="R2995e2c1dee8441b" Type="http://schemas.openxmlformats.org/package/2006/relationships/metadata/core-properties" Target="docProps/core.xml"/><Relationship Id="Ra1de43de40224ae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95ef6a65442f3"/>
  </p:sldMasterIdLst>
  <p:notesMasterIdLst>
    <p:notesMasterId xmlns:r="http://schemas.openxmlformats.org/officeDocument/2006/relationships" r:id="R8789895f976f4354"/>
  </p:notesMasterIdLst>
  <p:sldIdLst>
    <p:sldId xmlns:r="http://schemas.openxmlformats.org/officeDocument/2006/relationships" id="256" r:id="R34b42780f08c4804"/>
    <p:sldId xmlns:r="http://schemas.openxmlformats.org/officeDocument/2006/relationships" id="257" r:id="R06fad22268c74008"/>
    <p:sldId xmlns:r="http://schemas.openxmlformats.org/officeDocument/2006/relationships" id="258" r:id="Rb53127b3a57c43a0"/>
    <p:sldId xmlns:r="http://schemas.openxmlformats.org/officeDocument/2006/relationships" id="259" r:id="Ra610098d7d174e53"/>
    <p:sldId xmlns:r="http://schemas.openxmlformats.org/officeDocument/2006/relationships" id="260" r:id="R45dc41fcf8f246a4"/>
    <p:sldId xmlns:r="http://schemas.openxmlformats.org/officeDocument/2006/relationships" id="261" r:id="R9c7831bc2c7b4452"/>
    <p:sldId xmlns:r="http://schemas.openxmlformats.org/officeDocument/2006/relationships" id="262" r:id="R4992ed27145542bd"/>
    <p:sldId xmlns:r="http://schemas.openxmlformats.org/officeDocument/2006/relationships" id="263" r:id="R2b07cde0a03d4954"/>
    <p:sldId xmlns:r="http://schemas.openxmlformats.org/officeDocument/2006/relationships" id="264" r:id="R17c215c2776444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fad22268c74008" Type="http://schemas.openxmlformats.org/officeDocument/2006/relationships/slide" Target="slides/slide2.xml"/><Relationship Id="R086e866cb597469e" Type="http://schemas.openxmlformats.org/officeDocument/2006/relationships/tableStyles" Target="tableStyles.xml"/><Relationship Id="R17c215c277644431" Type="http://schemas.openxmlformats.org/officeDocument/2006/relationships/slide" Target="slides/slide9.xml"/><Relationship Id="R1ef4b82465504477" Type="http://schemas.openxmlformats.org/officeDocument/2006/relationships/theme" Target="theme/theme1.xml"/><Relationship Id="R2b07cde0a03d4954" Type="http://schemas.openxmlformats.org/officeDocument/2006/relationships/slide" Target="slides/slide8.xml"/><Relationship Id="R34b42780f08c4804" Type="http://schemas.openxmlformats.org/officeDocument/2006/relationships/slide" Target="slides/slide1.xml"/><Relationship Id="R45dc41fcf8f246a4" Type="http://schemas.openxmlformats.org/officeDocument/2006/relationships/slide" Target="slides/slide5.xml"/><Relationship Id="R4992ed27145542bd" Type="http://schemas.openxmlformats.org/officeDocument/2006/relationships/slide" Target="slides/slide7.xml"/><Relationship Id="R7f97f7f5c7c845eb" Type="http://schemas.openxmlformats.org/officeDocument/2006/relationships/presProps" Target="presProps.xml"/><Relationship Id="R8789895f976f4354" Type="http://schemas.openxmlformats.org/officeDocument/2006/relationships/notesMaster" Target="notesMasters/notesMaster1.xml"/><Relationship Id="R9c7831bc2c7b4452" Type="http://schemas.openxmlformats.org/officeDocument/2006/relationships/slide" Target="slides/slide6.xml"/><Relationship Id="Ra610098d7d174e53" Type="http://schemas.openxmlformats.org/officeDocument/2006/relationships/slide" Target="slides/slide4.xml"/><Relationship Id="Rb53127b3a57c43a0" Type="http://schemas.openxmlformats.org/officeDocument/2006/relationships/slide" Target="slides/slide3.xml"/><Relationship Id="Rc7595ef6a65442f3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0a9767e9191f4d4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c9c539ee6124e43" Type="http://schemas.openxmlformats.org/officeDocument/2006/relationships/slide" Target="../slides/slide1.xml"/><Relationship Id="R64a30b8ddca44ac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5fecaaa935d64a1d" Type="http://schemas.openxmlformats.org/officeDocument/2006/relationships/notesMaster" Target="../notesMasters/notesMaster1.xml"/><Relationship Id="Raed5f239fe1f467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fb0aea93bd44d4c" Type="http://schemas.openxmlformats.org/officeDocument/2006/relationships/slide" Target="../slides/slide3.xml"/><Relationship Id="R821066e574934c1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6688f0d303b4025" Type="http://schemas.openxmlformats.org/officeDocument/2006/relationships/slide" Target="../slides/slide4.xml"/><Relationship Id="Rc18a17bd4acc4ce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be50ebbf5d04ab5" Type="http://schemas.openxmlformats.org/officeDocument/2006/relationships/notesMaster" Target="../notesMasters/notesMaster1.xml"/><Relationship Id="R690527b8390144e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5880dc92ba9444b7" Type="http://schemas.openxmlformats.org/officeDocument/2006/relationships/notesMaster" Target="../notesMasters/notesMaster1.xml"/><Relationship Id="R69aa85a59d87456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a6815ed83d074ae0" Type="http://schemas.openxmlformats.org/officeDocument/2006/relationships/slide" Target="../slides/slide7.xml"/><Relationship Id="Re1e9ca82df584898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b991bbb37b340c6" Type="http://schemas.openxmlformats.org/officeDocument/2006/relationships/notesMaster" Target="../notesMasters/notesMaster1.xml"/><Relationship Id="R55cf6b4c63864e34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d70a30891e44285" Type="http://schemas.openxmlformats.org/officeDocument/2006/relationships/slide" Target="../slides/slide9.xml"/><Relationship Id="Rea2ab4fbff154c1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a1239eb5f27498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c0eb49dfae524a6d" Type="http://schemas.openxmlformats.org/officeDocument/2006/relationships/slideLayout" Target="../slideLayouts/slideLayout1.xml"/><Relationship Id="Rfc82c738b5744c5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b49dfae52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119ab2b563c4e76" Type="http://schemas.openxmlformats.org/officeDocument/2006/relationships/notesSlide" Target="../notesSlides/notesSlide1.xml"/><Relationship Id="R8dfd6256a3104b0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8d8408d77b84e2a" Type="http://schemas.openxmlformats.org/officeDocument/2006/relationships/notesSlide" Target="../notesSlides/notesSlide2.xml"/><Relationship Id="Rad085be51e55491c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7aa9da4ea7e4811" Type="http://schemas.openxmlformats.org/officeDocument/2006/relationships/slideLayout" Target="../slideLayouts/slideLayout1.xml"/><Relationship Id="Rdd49e36a5f74432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3613ed17cdfd4352" Type="http://schemas.openxmlformats.org/officeDocument/2006/relationships/slideLayout" Target="../slideLayouts/slideLayout1.xml"/><Relationship Id="R95079edec9ef488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257219eafb844e8e" Type="http://schemas.openxmlformats.org/officeDocument/2006/relationships/slideLayout" Target="../slideLayouts/slideLayout1.xml"/><Relationship Id="Ref2f0cd41ea34f5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8903edbbf0364083" Type="http://schemas.openxmlformats.org/officeDocument/2006/relationships/notesSlide" Target="../notesSlides/notesSlide6.xml"/><Relationship Id="R94f7072479a9484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fce1798bf664666" Type="http://schemas.openxmlformats.org/officeDocument/2006/relationships/notesSlide" Target="../notesSlides/notesSlide7.xml"/><Relationship Id="R47d32836b8394189" Type="http://schemas.openxmlformats.org/officeDocument/2006/relationships/chart" Target="charts/chart1.xml"/><Relationship Id="Rdc916227827a4cb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f127af3423e4657" Type="http://schemas.openxmlformats.org/officeDocument/2006/relationships/slideLayout" Target="../slideLayouts/slideLayout1.xml"/><Relationship Id="Rab7ccb5f226141e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c9753af3a914570" Type="http://schemas.openxmlformats.org/officeDocument/2006/relationships/notesSlide" Target="../notesSlides/notesSlide9.xml"/><Relationship Id="R89ae86490a274d1b" Type="http://schemas.openxmlformats.org/officeDocument/2006/relationships/slideLayout" Target="../slideLayouts/slideLayout1.xml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BLOCK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4"/>
              <c:pt idx="0">
                <c:v>Policy</c:v>
              </c:pt>
              <c:pt idx="1">
                <c:v>Taint</c:v>
              </c:pt>
              <c:pt idx="2">
                <c:v>Intent</c:v>
              </c:pt>
              <c:pt idx="3">
                <c:v>Anomaly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6</c:v>
              </c:pt>
              <c:pt idx="2">
                <c:v>0</c:v>
              </c:pt>
              <c:pt idx="3">
                <c:v>5</c:v>
              </c:pt>
            </c:numLit>
          </c:val>
        </c:ser>
        <c:ser>
          <c:idx val="1"/>
          <c:order val="1"/>
          <c:tx>
            <c:v>FLAG</c:v>
          </c:tx>
          <c:spPr>
            <a:solidFill xmlns:a="http://schemas.openxmlformats.org/drawingml/2006/main">
              <a:srgbClr val="F59E0B"/>
            </a:solidFill>
          </c:spPr>
          <c:cat>
            <c:strLit>
              <c:ptCount val="4"/>
              <c:pt idx="0">
                <c:v>Policy</c:v>
              </c:pt>
              <c:pt idx="1">
                <c:v>Taint</c:v>
              </c:pt>
              <c:pt idx="2">
                <c:v>Intent</c:v>
              </c:pt>
              <c:pt idx="3">
                <c:v>Anomaly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2</c:v>
              </c:pt>
              <c:pt idx="2">
                <c:v>0</c:v>
              </c:pt>
              <c:pt idx="3">
                <c:v>7</c:v>
              </c:pt>
            </c:numLit>
          </c:val>
        </c:ser>
        <c:ser>
          <c:idx val="2"/>
          <c:order val="2"/>
          <c:tx>
            <c:v>ALLOW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4"/>
              <c:pt idx="0">
                <c:v>Policy</c:v>
              </c:pt>
              <c:pt idx="1">
                <c:v>Taint</c:v>
              </c:pt>
              <c:pt idx="2">
                <c:v>Intent</c:v>
              </c:pt>
              <c:pt idx="3">
                <c:v>Anomaly</c:v>
              </c:pt>
            </c:strLit>
          </c:cat>
          <c:val>
            <c:numLit>
              <c:formatCode>General</c:formatCode>
              <c:ptCount val="4"/>
              <c:pt idx="0">
                <c:v>12</c:v>
              </c:pt>
              <c:pt idx="1">
                <c:v>22</c:v>
              </c:pt>
              <c:pt idx="2">
                <c:v>30</c:v>
              </c:pt>
              <c:pt idx="3">
                <c:v>18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074F-7567-4979-86D4-B9E05B7D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面向大模型及其应用的安全性研究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7847-66D9-4185-A09D-C47C449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Argus Guardian：智能体行为监督原型系统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6E9C-16EE-4AB4-95FE-6E12B070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</a:defRPr>
            </a:pPr>
            <a:r>
              <a:rPr sz="1800" b="0">
                <a:solidFill>
                  <a:srgbClr val="5B6472"/>
                </a:solidFill>
              </a:rPr>
              <a:t>从红队攻击面出发，审计智能体工具调用、代码执行与文件访问，并在执行前检测和阻断风险。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FA5FD-CB69-4EBC-92AF-E32D51F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4921B-3420-4F0B-AD14-D8E5940D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红队攻击面 · 四层 Guardian · DeepSeek 在线样本 · 网页演示验收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F1A22-828F-47CC-9CE8-F6FA2254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2571750" cy="39052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1D8E4-8AC8-4E8B-AB6F-E269379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ALLOW</a:t>
            </a:r>
          </a:p>
          <a:p xmlns:a="http://schemas.openxmlformats.org/drawingml/2006/main">
            <a:pPr algn="ctr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FLAG</a:t>
            </a:r>
          </a:p>
          <a:p xmlns:a="http://schemas.openxmlformats.org/drawingml/2006/main">
            <a:pPr algn="ctr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BLOCK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CBDE8-C2FF-42AC-B35B-9F9AD411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814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工具真正执行前的</a:t>
            </a:r>
          </a:p>
          <a:p xmlns:a="http://schemas.openxmlformats.org/drawingml/2006/main"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行为监督闸门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C43CF-BFF6-46BD-AD1B-3EAAF4F3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F9936-27C2-4E44-B1EE-4B67D702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5214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8785F-9345-4A62-9AB8-01E7FD8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11910-02C9-4C64-88C1-881195FE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风险不只在模型回答，而在智能体行动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FCA8B-9579-44DF-A443-20418249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7574A-B7A1-4418-BDE2-3CC08185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</a:defRPr>
            </a:pPr>
            <a:r>
              <a:rPr sz="1800" b="0">
                <a:solidFill>
                  <a:srgbClr val="0B1220"/>
                </a:solidFill>
              </a:rPr>
              <a:t>当 LLM Agent 可以调用 Shell、读写文件、抓取网页和调用外部工具时，攻击者不再只追求“让模型说错”，而是诱导它执行危险动作。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3B8A7-A927-4F2B-B742-FBE5E2DC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• 输入、网页、日志、配置和长期记忆都可能成为攻击入口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• 单次工具调用看似正常，也可能处在外联或提权链路中</a:t>
            </a:r>
          </a:p>
          <a:p xmlns:a="http://schemas.openxmlformats.org/drawingml/2006/main">
            <a:pPr algn="l">
              <a:defRPr sz="1500" b="0">
                <a:solidFill>
                  <a:srgbClr val="5B6472"/>
                </a:solidFill>
              </a:defRPr>
            </a:pPr>
            <a:r>
              <a:rPr sz="1500" b="0">
                <a:solidFill>
                  <a:srgbClr val="5B6472"/>
                </a:solidFill>
              </a:rPr>
              <a:t>• 需要在工具执行前做实时审计，而不是事后追责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1452C-42F8-47C7-898F-C4792A87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A6E5A-E33D-4736-A77B-6BB3C731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192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提示注入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AB19F-2DB0-4CDE-B382-D3EC5AAF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573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160C5-C25F-466B-B972-315CBCF5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192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模型越狱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CC0AE-BBFB-4584-84C0-DB71E1D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804BE-19CC-4C32-93F8-00AEE0C3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765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训练数据泄露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AD236-60C6-4EED-B2A5-BE55C520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3EC6B-55EA-4C1F-8084-5B7EBAB4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765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工具调用劫持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FC73F-6E41-4A67-A0C8-CB093AEE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B166D6-22C0-4E86-836B-1022B058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33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记忆中毒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C1ABF-7D25-48D0-A1E6-88B2B7AF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E9400-1217-4E9A-BE08-24EC590E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33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环境感知污染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C0B82-30AD-4B82-9EE4-7125D1AE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AB9A3-029A-4E08-B3CB-D3F11D0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91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间接提示注入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3382C3-3C8C-4233-91E8-91BF63D8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29100"/>
            <a:ext cx="209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57FE0-176A-4EAF-B421-2BEDBD9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91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序列异常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FAF7C-7FD5-4252-8397-8EAEDA93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1BE43-06EA-471F-8707-D94B88E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2717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40F8D-EF1E-4C77-A94C-A296C03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FCDBF-85D8-4CC5-A38B-3D233EC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项目已形成从样本到演示系统的闭环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2D71D-4418-4838-B0FA-9A5D15E6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E98C6-87B5-4837-B010-3E850C6C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3CDEA-5518-45F1-9955-A5F80B5C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安全风险分析报告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4417-6CB2-4728-8035-64A7AD97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LaTeX 正式报告 + PDF 预览，覆盖威胁模型、系统设计、实验结果。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30D28-D853-46E2-B280-5D48B282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CC941-0E42-4453-9CE6-7A5C991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对抗样本与越狱测试集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F91C7-57B3-491C-BE5F-03300105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30 条离线样本：22 条攻击、8 条良性对照，并支持公开越狱集转换。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4ACFA-AF90-43CA-B7A9-F0C1993D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0E79B-20DE-4110-BC17-E0B6FE9A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攻击脚本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33CBC-1C7C-4672-8848-1ABCCF7F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离线演示、单样本复现、全量 benchmark、DeepSeek intent judge 与在线 agent demo。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AB4DD-8ABE-4DE0-BD34-13D3D92C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5143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1A1B6-7EF2-4F83-8976-A9BC4BD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可演示原型系统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D78AB-0589-4EAB-8031-6F5A7DD5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81450"/>
            <a:ext cx="480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Dashboard 支持攻击面复跑、批量红队矩阵、攻击链视图、规则管理与一键验收。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8279F-B710-4024-848E-FF94E678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C125D-B379-40D3-A731-3851F039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1781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B9864-E14E-4486-B07C-C0FBBA44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B3469-99DE-47D3-9BB4-561C2AF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Guardian 插在工具真正执行之前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18C77-2EFF-47CE-B173-5EF9E54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874D4-131A-4C35-9A4A-77647E9A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E2B27-35E4-488A-8152-EC4C4514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用户请求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F0165-43A6-413C-8CCA-07A60C2A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47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4B326-4EA2-43FA-A04E-BE05545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3EF39-D88B-41B7-B78F-051CE9B8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9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LLM Agent</a:t>
            </a:r>
          </a:p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规划工具调用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68F63-D1BF-491B-B2A1-6A7ABCC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47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B1E52-8C7E-4E2D-BED8-40C1B23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2E5E9-C8FB-4370-991C-550211FE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ToolCall</a:t>
            </a:r>
          </a:p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结构化动作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F0C6-75B9-4ADD-AAEC-4B191EB9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47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03FC2-655E-42DA-8F7E-28C4980A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AA624-7A37-4D60-957C-8BEA1371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Argus Guardian</a:t>
            </a:r>
          </a:p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四层审计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E0D2A5-90D3-4B98-90C3-83F7370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CF3E59-E183-45A3-A08F-3BD5744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98EC5-E852-4874-BE34-2EB9CDD0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ALLOW / FLAG / BLOCK</a:t>
            </a:r>
          </a:p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执行或阻断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A5B7F-D83F-4BC9-8121-BA69046A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D984F-C4D1-445D-B24C-E9DC0C7A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嵌入式部署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5A13B-DB4B-4A1A-9471-87A9AA77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在 Agent 调用工具前插入审计点，危险 ToolCall 不会进入真实执行。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77CE7-43DF-47D2-A5F8-A71525B1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3E92E3-2602-49BF-B117-60F4AA95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旁路审计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65D97-7934-476B-A46E-598C65B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记录每次工具名、参数、上下文、污点来源和四层 Verdict。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8AC620-319E-4B05-BF2D-4C20FE59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12E69E-004F-49A9-B0EA-A1ED3B9F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86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网页演示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1C3773-AE1A-43F5-A83E-FF1747F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Dashboard 从审计历史和评测结果动态展示阻断统计。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092E43-48F8-4689-BA61-EDEDD962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F23C2B-5D55-4303-ABE4-874A54B3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84741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405C33-834A-41D5-842A-A4AA5D3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核心机制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CF68E-4B1B-4314-B25F-91B9C7FA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四层防御从规则、数据流、意图和序列互补判断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FA034-738E-4F9E-8760-CAAF328A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3437-6EA5-4719-A4D5-F780308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DD4A0-D37B-4E84-82A5-6EB32D3A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1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B597B-0957-4742-9D0F-0A917B00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工具白名单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高危 Shell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敏感路径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红队元数据兜底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27646-1E13-49B6-A879-2799EE8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44874-370A-4537-B1E9-2FDABDE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85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 Taint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41170-7298-4EC6-913A-013A525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web/read 作为不可信来源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片段级污点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高权限 sink 阻断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92625-4AA8-458B-ADE5-71FD5266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E4185-51E8-40EC-9C5F-CA0D1044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3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44295-DE08-4831-AABB-60BD9B93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可选 DeepSeek judge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判断工具调用是否符合用户原始意图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1E084-AB65-4CAC-8CF8-5D74138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381250" cy="24193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69706-6248-4EBA-872A-65CE64E0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4 Anomaly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143A-4EFD-483F-ABAC-81E097F3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57450"/>
            <a:ext cx="1924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重复调用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读后外联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读后提权</a:t>
            </a:r>
          </a:p>
          <a:p xmlns:a="http://schemas.openxmlformats.org/drawingml/2006/main">
            <a:pPr algn="ctr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攻击链异常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2C95D-3ADE-46EB-98C1-2AFF4D73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28790-DA0D-4469-B67B-520AF286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聚合规则：任一层 BLOCK 即阻断；无 BLOCK 但有 FLAG 则告警；全部 ALLOW 才放行。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45DCC-9397-49F1-A74D-FAB23104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8D6EF-55E6-4E94-9EB7-267F11EF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89532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28FB5-CC62-498A-86DC-617764E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红队与攻击脚本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54035-C5CF-4E16-A984-BD7DB40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红队样本既能离线复现，也能在线生成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BA5E8-5BD9-4634-8CAE-A03BD718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2BC23-D1E5-4D09-8C71-8B1265DF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5244E-5830-4D99-A693-B81568B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离线可复现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67798-E88B-4898-8630-601E388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覆盖 7 个主要攻击面；replay_case.py 按 ID 复现；run_benchmark.py 输出报告和 JSON。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D1A76-5B04-446F-8B2A-43D1BE13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342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CBC4E-3ED7-4E48-BAA2-1C104D2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DeepSeek 在线红队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A01D3-BBCE-433C-AA4F-3F27BE95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086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可选择攻击面、生成条数和提示词模板；模型生成攻击目标、工具调用、风险点和期望动作。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92418-82A2-44B5-98CA-34CC73E5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DD451-5BA5-4DF8-A9F6-81B5BD4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提示词模板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A4BFF-6E1F-4C5E-B72B-7968784A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335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F92C5-3D28-4E48-BD6D-C08E98B3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生成攻击样本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AE5DA-4789-4D2C-9238-219A7EB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335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95551-BDAB-44AF-B36C-8CF9EA9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Guardian 审计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C87BA-EE23-45FD-977C-E470E6C2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3380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D2CA2-03A1-40A0-838F-5112C56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漏拦截分析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F80236-24DE-459F-8D38-6B40D3C8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5B194-D6FB-4E61-B8CE-4D02C918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自适应规则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4447AA-AC79-46E8-8EC0-94691C7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85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2"/>
                </a:solidFill>
              </a:defRPr>
            </a:pPr>
            <a:r>
              <a:rPr sz="21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8ABDF-E8D5-4EFB-8D40-5078C7B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859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2"/>
                </a:solidFill>
              </a:defRPr>
            </a:pPr>
            <a:r>
              <a:rPr sz="21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41530-3746-4B6E-9C17-7EE67DB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未阻断时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FC38A8-3583-4DCD-9D6B-A90FCECD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B6472"/>
                </a:solidFill>
              </a:defRPr>
            </a:pPr>
            <a:r>
              <a:rPr sz="2550" b="1">
                <a:solidFill>
                  <a:srgbClr val="5B6472"/>
                </a:solidFill>
              </a:rPr>
              <a:t>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CF36E-6A7E-46CC-BAC0-C7553F7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862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472"/>
                </a:solidFill>
              </a:defRPr>
            </a:pPr>
            <a:r>
              <a:rPr sz="2100" b="1">
                <a:solidFill>
                  <a:srgbClr val="5B647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CC1F15-6AE9-43BB-80F3-D9BD23BE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规则受限为字段匹配，不执行模型生成代码；API key 只在运行时临时输入。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1253C-98E6-4099-A5BB-F38D0076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D091A-3941-4838-A77B-CC896E5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4270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F94185-1327-46DA-B962-A3EF988A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85A27-3245-4FC9-8568-0821767F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当前离线评测实现 22/22 攻击检出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FBD19-121E-4B62-9B5E-E1C8074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9CDC-5B9E-4A9F-817B-6D656B84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82DE-EFA1-4240-A326-78B0D96B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42965-B09C-4AA6-9A1F-93D5499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总样本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C9129-C69B-41AC-8E72-2E5429A0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8115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87174-A500-4194-A7E4-7DBD305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33550"/>
            <a:ext cx="108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C2626"/>
                </a:solidFill>
              </a:defRPr>
            </a:pPr>
            <a:r>
              <a:rPr sz="2400" b="1">
                <a:solidFill>
                  <a:srgbClr val="DC262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3C8D4-A851-4D39-929A-9D1C661D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098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攻击样本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AB42A-7696-4932-BED9-87F7179E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78C23-B8DE-401F-B09D-217C0BD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7335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A34A"/>
                </a:solidFill>
              </a:defRPr>
            </a:pPr>
            <a:r>
              <a:rPr sz="2400" b="1">
                <a:solidFill>
                  <a:srgbClr val="16A34A"/>
                </a:solidFill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5202D-433F-47A7-B062-0AADF14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09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攻击召回率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581B5-FFC9-4628-90A1-9EC9E49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1FF5B-B8ED-4CF1-B9E9-32D6242B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335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9E0B"/>
                </a:solidFill>
              </a:defRPr>
            </a:pPr>
            <a:r>
              <a:rPr sz="2400" b="1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6A2B54-483E-418D-A2D6-51813FBD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阻断型误报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D1EA20-BF49-4106-93A9-7CAB405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81150"/>
            <a:ext cx="1809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3BFB4-4555-48B3-9FCD-7149E7D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73355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0.897ms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EDF00-3C7A-4C01-9DD8-843AE5B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平均审计延迟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1C9F7-DF4F-4704-BD97-8028D90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四层 Verdict 分布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mlns:a="http://schemas.openxmlformats.org/drawingml/2006/main" x="571500" y="3600450"/>
          <a:ext xmlns:a="http://schemas.openxmlformats.org/drawingml/2006/main" cx="6477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32836b8394189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1805F-09E3-4213-87A6-BAAE0A32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429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9FF40-4CA4-4DC4-B6DB-17894F3B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004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结果含义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50F82-47EB-489F-BA6B-D5DD06AB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814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Policy 承担主要硬阻断；Taint 覆盖间接注入与不可信数据流；Anomaly 补充读后外联、重复调用和攻击链异常。Intent 在线演示时可启用。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2113B-EF30-499D-9663-210F7BD9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5F450-AFE0-48F2-B3EB-F30B2B0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90297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BD82D-4B9F-4753-8666-735C17F6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演示系统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F765A-2342-4D7C-9F52-6ADD702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网页端支持按攻击面复跑、审计矩阵和验收记录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A03E9-E61F-4DA7-B749-5C86A68D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296D8-33B1-4440-AD62-2DF548E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C570D-4F96-4944-B6F5-9BA9E94E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攻击面实验台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60D78-F904-4080-8C24-A4C08895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每个攻击面可独立离线重跑，查看用户请求、ToolCall、四层 Verdict 和最终动作。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3EDB4-F709-49C5-B1C0-37FD5AE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2D029-AA02-4903-A34B-D3E7A4B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DeepSeek 红队矩阵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985CE-C9B0-4FF5-B878-ED908BF4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一次生成 1 条或多条攻击样本，按“总 / 1 / 2 / 3 / 4”展示层级状态。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1318B-4077-428F-ABFA-AB9D2968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E3108-D43D-4316-AAD7-6C0B372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攻击链详情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0272B-E163-43B3-8C8B-82EFBF21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点击条目展开用户请求、模型输出、工具调用、污点来源和层级命中。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51499-440A-42BF-B20F-439775DA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143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0EB30-86AD-4136-B187-D48E24F0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规则管理与验收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C8441-0790-491F-9DBF-7B397C7E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4800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展示自适应规则来源、命中次数、启停状态；一键运行 7 个攻击面生成验收记录。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2ADAB-6AB7-45C8-8BFB-9903D471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8572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3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3DF99-E21D-4902-881C-6BBDC6D9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默认端口 127.0.0.1:8765 · 历史审计 SQLite · 验收产物 Markdown / JSON / SVG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39766-BE6D-41CB-89F3-348A7E0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ECEE1-66B3-4B1B-BCD6-1DFFE60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88739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592DC-2621-4412-B66E-4A9C847D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局限与展望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BB25-684E-44E1-A5AA-FB32528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定稿可验收，后续重点是规模化和泛化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92A7C-2137-428A-8BA1-723C281B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75AA4-5FE5-4E0D-9F91-AA27CBE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54D99-5177-4B90-9A84-3E00529D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接入现有攻击集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5BD7D-6FA3-499A-B2F1-1514D0A5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将 AdvBench、JailbreakBench 和真实 Agent 轨迹纳入批量测试，扩大样本规模。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92A57-78FC-45A2-9C41-A82B61B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21F22-071F-47DD-9264-A0A3113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工具集超出预设怎么办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C176-39E8-4748-B341-2F596957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从固定白名单升级到“工具能力标签 + 最小权限 + 场景策略”，新工具先进入旁路观察。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E649F-4B44-43AE-984E-9D9AB732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85436-11B0-4F05-B4F9-F8FE8239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异常检测继续工程化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3AB06-2CC9-4279-90C3-AEA734A6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由启发式规则扩展到 n-gram、Markov 或 embedding 序列模型，提高泛化能力。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26E45-4814-46DC-AFD9-BA0BB14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C9D9D-CD1A-410E-BA77-338A01B6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多模型与规则治理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18144-5ABB-4E4A-B44D-330868A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4800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引入多模型 judge、规则差异预览、版本回滚和人工审批，降低单模型偏差。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3BB6FF-F10B-4E26-A852-FD7EC3B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核心方向：把“模型安全”推进到“智能体行为安全”。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36B14-C023-400C-8C4A-CCA665E9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Argus Guardian · LLM Agent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635F1-EC6F-403C-ADA9-6253F258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6901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2026-07-17T05:41:34.8950000Z</dcterms:created>
  <dcterms:modified xsi:type="dcterms:W3CDTF">2026-07-17T05:41:34.8960000Z</dcterms:modified>
</coreProperties>
</file>